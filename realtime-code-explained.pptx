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A7CE"/>
          </a:solidFill>
          <a:ln w="12700">
            <a:solidFill>
              <a:srgbClr val="19A7C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9A7CE"/>
                </a:solidFill>
              </a:rPr>
              <a:t>REALTIME AUDIO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508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realtime.mts works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58952" y="251460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D8E7EF"/>
                </a:solidFill>
              </a:rPr>
              <a:t>A small TypeScript example that sends text to a realtime model, receives streamed audio, and saves a playable WAV file.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8412480" y="1005840"/>
            <a:ext cx="2560320" cy="2560320"/>
          </a:xfrm>
          <a:prstGeom prst="arc">
            <a:avLst/>
          </a:prstGeom>
          <a:solidFill>
            <a:srgbClr val="17202A">
              <a:alpha val="0"/>
            </a:srgbClr>
          </a:solidFill>
          <a:ln w="38100">
            <a:solidFill>
              <a:srgbClr val="19A7CE">
                <a:alpha val="8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61120" y="1554480"/>
            <a:ext cx="1463040" cy="1463040"/>
          </a:xfrm>
          <a:prstGeom prst="arc">
            <a:avLst/>
          </a:prstGeom>
          <a:solidFill>
            <a:srgbClr val="17202A">
              <a:alpha val="0"/>
            </a:srgbClr>
          </a:solidFill>
          <a:ln w="38100">
            <a:solidFill>
              <a:srgbClr val="E76F5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464040" y="2057400"/>
            <a:ext cx="457200" cy="457200"/>
          </a:xfrm>
          <a:prstGeom prst="ellipse">
            <a:avLst/>
          </a:prstGeom>
          <a:solidFill>
            <a:srgbClr val="19A7CE"/>
          </a:solidFill>
          <a:ln w="12700">
            <a:solidFill>
              <a:srgbClr val="19A7C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5806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C6D3"/>
                </a:solidFill>
              </a:rPr>
              <a:t>Purpose, flow, and runtime behavior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9A7CE"/>
          </a:solidFill>
          <a:ln w="12700">
            <a:solidFill>
              <a:srgbClr val="19A7C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9A7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 |  PURPOSE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69494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the purpose of this code?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94360" y="647395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2606D"/>
                </a:solidFill>
              </a:rPr>
              <a:t>realtime.mts  |  AI SDK Gateway + WebSocket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" y="1554480"/>
            <a:ext cx="6492240" cy="4114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7202A"/>
                </a:solidFill>
              </a:rPr>
              <a:t>Connect to a realtime AI voice model through the Vercel AI Gateway.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7202A"/>
                </a:solidFill>
              </a:rPr>
              <a:t>Send a text prompt over a persistent WebSocket connection.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7202A"/>
                </a:solidFill>
              </a:rPr>
              <a:t>Receive the answer as two streams: transcript text and audio bytes.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7202A"/>
                </a:solidFill>
              </a:rPr>
              <a:t>Convert the raw PCM16 audio into a standard reply.wav file.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772400" y="1691640"/>
            <a:ext cx="1508760" cy="960120"/>
          </a:xfrm>
          <a:prstGeom prst="roundRect">
            <a:avLst>
              <a:gd name="adj" fmla="val 3810"/>
            </a:avLst>
          </a:prstGeom>
          <a:solidFill>
            <a:srgbClr val="EAF6FA"/>
          </a:solidFill>
          <a:ln w="15240">
            <a:solidFill>
              <a:srgbClr val="19A7C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82128" y="1801368"/>
            <a:ext cx="1289304" cy="7406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2A"/>
                </a:solidFill>
              </a:rPr>
              <a:t>Input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7202A"/>
                </a:solidFill>
              </a:rPr>
              <a:t>text prompt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326880" y="1920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A7CE"/>
                </a:solidFill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9829800" y="1691640"/>
            <a:ext cx="1508760" cy="960120"/>
          </a:xfrm>
          <a:prstGeom prst="roundRect">
            <a:avLst>
              <a:gd name="adj" fmla="val 3810"/>
            </a:avLst>
          </a:prstGeom>
          <a:solidFill>
            <a:srgbClr val="FFF0EA"/>
          </a:solidFill>
          <a:ln w="15240">
            <a:solidFill>
              <a:srgbClr val="E76F5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939528" y="1801368"/>
            <a:ext cx="1289304" cy="7406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2A"/>
                </a:solidFill>
              </a:rPr>
              <a:t>Realtime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7202A"/>
                </a:solidFill>
              </a:rPr>
              <a:t>model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378440" y="27889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76F51"/>
                </a:solidFill>
              </a:rPr>
              <a:t>↓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9829800" y="3429000"/>
            <a:ext cx="1508760" cy="960120"/>
          </a:xfrm>
          <a:prstGeom prst="roundRect">
            <a:avLst>
              <a:gd name="adj" fmla="val 3810"/>
            </a:avLst>
          </a:prstGeom>
          <a:solidFill>
            <a:srgbClr val="E9F7F4"/>
          </a:solidFill>
          <a:ln w="15240">
            <a:solidFill>
              <a:srgbClr val="2A9D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939528" y="3538728"/>
            <a:ext cx="1289304" cy="7406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2A"/>
                </a:solidFill>
              </a:rPr>
              <a:t>reply.wav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818120" y="49834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2606D"/>
                </a:solidFill>
              </a:rPr>
              <a:t>The program is a command-line demo, not a web UI.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9A7CE"/>
          </a:solidFill>
          <a:ln w="12700">
            <a:solidFill>
              <a:srgbClr val="19A7C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9A7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 |  SYSTEM FLOW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69494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End-to-end architecture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94360" y="647395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2606D"/>
                </a:solidFill>
              </a:rPr>
              <a:t>realtime.mts  |  AI SDK Gateway + WebSocket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31520" y="2011680"/>
            <a:ext cx="1874520" cy="1097280"/>
          </a:xfrm>
          <a:prstGeom prst="roundRect">
            <a:avLst>
              <a:gd name="adj" fmla="val 3333"/>
            </a:avLst>
          </a:prstGeom>
          <a:solidFill>
            <a:srgbClr val="EAF6FA"/>
          </a:solidFill>
          <a:ln w="15240">
            <a:solidFill>
              <a:srgbClr val="19A7C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2121408"/>
            <a:ext cx="1655064" cy="8778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2A"/>
                </a:solidFill>
              </a:rPr>
              <a:t>realtime.mts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246120" y="2011680"/>
            <a:ext cx="1874520" cy="1097280"/>
          </a:xfrm>
          <a:prstGeom prst="roundRect">
            <a:avLst>
              <a:gd name="adj" fmla="val 3333"/>
            </a:avLst>
          </a:prstGeom>
          <a:solidFill>
            <a:srgbClr val="FFF0EA"/>
          </a:solidFill>
          <a:ln w="15240">
            <a:solidFill>
              <a:srgbClr val="E76F5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55848" y="2121408"/>
            <a:ext cx="1655064" cy="8778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2A"/>
                </a:solidFill>
              </a:rPr>
              <a:t>AI SDK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7202A"/>
                </a:solidFill>
              </a:rPr>
              <a:t>Gateway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760720" y="2011680"/>
            <a:ext cx="1874520" cy="1097280"/>
          </a:xfrm>
          <a:prstGeom prst="roundRect">
            <a:avLst>
              <a:gd name="adj" fmla="val 3333"/>
            </a:avLst>
          </a:prstGeom>
          <a:solidFill>
            <a:srgbClr val="E9F7F4"/>
          </a:solidFill>
          <a:ln w="15240">
            <a:solidFill>
              <a:srgbClr val="2A9D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70448" y="2121408"/>
            <a:ext cx="1655064" cy="8778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2A"/>
                </a:solidFill>
              </a:rPr>
              <a:t>Realtime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7202A"/>
                </a:solidFill>
              </a:rPr>
              <a:t>provider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275320" y="2011680"/>
            <a:ext cx="1874520" cy="1097280"/>
          </a:xfrm>
          <a:prstGeom prst="roundRect">
            <a:avLst>
              <a:gd name="adj" fmla="val 3333"/>
            </a:avLst>
          </a:prstGeom>
          <a:solidFill>
            <a:srgbClr val="F2F0FA"/>
          </a:solidFill>
          <a:ln w="15240">
            <a:solidFill>
              <a:srgbClr val="8874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85048" y="2121408"/>
            <a:ext cx="1655064" cy="8778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2A"/>
                </a:solidFill>
              </a:rPr>
              <a:t>reply.wav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606040" y="132588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606D"/>
                </a:solidFill>
              </a:rPr>
              <a:t>API key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2606D"/>
                </a:solidFill>
              </a:rPr>
              <a:t>(token request)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74920" y="132588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606D"/>
                </a:solidFill>
              </a:rPr>
              <a:t>WebSocket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2606D"/>
                </a:solidFill>
              </a:rPr>
              <a:t>(JSON events)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543800" y="132588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606D"/>
                </a:solidFill>
              </a:rPr>
              <a:t>PCM16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2606D"/>
                </a:solidFill>
              </a:rPr>
              <a:t>base64 audio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651760" y="235915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A7CE"/>
                </a:solidFill>
              </a:rPr>
              <a:t>→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166360" y="235915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A7CE"/>
                </a:solidFill>
              </a:rPr>
              <a:t>→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680960" y="235915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A7CE"/>
                </a:solidFill>
              </a:rPr>
              <a:t>→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097280" y="4069080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7202A"/>
                </a:solidFill>
              </a:rPr>
              <a:t>The Gateway handles provider authentication and translates normalized AI SDK events into the provider wire format.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9A7CE"/>
          </a:solidFill>
          <a:ln w="12700">
            <a:solidFill>
              <a:srgbClr val="19A7C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9A7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 |  DEPENDENCIES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69494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Startup and configuration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94360" y="647395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2606D"/>
                </a:solidFill>
              </a:rPr>
              <a:t>realtime.mts  |  AI SDK Gateway + WebSocket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5669280" cy="1920240"/>
          </a:xfrm>
          <a:prstGeom prst="roundRect">
            <a:avLst>
              <a:gd name="adj" fmla="val 1905"/>
            </a:avLst>
          </a:prstGeom>
          <a:solidFill>
            <a:srgbClr val="14202B"/>
          </a:solidFill>
          <a:ln w="12700">
            <a:solidFill>
              <a:srgbClr val="1420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581912"/>
            <a:ext cx="53035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8F3F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import 'dotenv/config';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8F3F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import { gateway } from '@ai-sdk/gateway';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8F3F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import WebSocket from 'ws';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8F3F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import { writeFileSync } from 'node:fs';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12280" y="1463040"/>
            <a:ext cx="4480560" cy="2926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7202A"/>
                </a:solidFill>
              </a:rPr>
              <a:t>dotenv loads local environment variables from .env.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7202A"/>
                </a:solidFill>
              </a:rPr>
              <a:t>@ai-sdk/gateway provides the realtime model adapter.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7202A"/>
                </a:solidFill>
              </a:rPr>
              <a:t>ws opens the Node.js WebSocket connection.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7202A"/>
                </a:solidFill>
              </a:rPr>
              <a:t>node:fs writes the final WAV file.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46634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6C94"/>
                </a:solidFill>
              </a:rPr>
              <a:t>The API key stays server-side. It is never placed in the source code or sent to a browser.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9A7CE"/>
          </a:solidFill>
          <a:ln w="12700">
            <a:solidFill>
              <a:srgbClr val="19A7C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9A7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 |  AUTHENTICATION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69494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1: obtain a temporary realtime token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94360" y="647395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2606D"/>
                </a:solidFill>
              </a:rPr>
              <a:t>realtime.mts  |  AI SDK Gateway + WebSocket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77240" y="1417320"/>
            <a:ext cx="5029200" cy="1920240"/>
          </a:xfrm>
          <a:prstGeom prst="roundRect">
            <a:avLst>
              <a:gd name="adj" fmla="val 1905"/>
            </a:avLst>
          </a:prstGeom>
          <a:solidFill>
            <a:srgbClr val="14202B"/>
          </a:solidFill>
          <a:ln w="12700">
            <a:solidFill>
              <a:srgbClr val="1420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581912"/>
            <a:ext cx="4663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8F3F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const { token, url } =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8F3F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await gateway.experimental_realtime.getToken({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8F3F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model: modelId,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8F3F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});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0" y="1417320"/>
            <a:ext cx="4754880" cy="3383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7202A"/>
                </a:solidFill>
              </a:rPr>
              <a:t>The server uses AI_GATEWAY_API_KEY through the environment.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7202A"/>
                </a:solidFill>
              </a:rPr>
              <a:t>The Gateway validates the account and selected model.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7202A"/>
                </a:solidFill>
              </a:rPr>
              <a:t>The response contains a short-lived token and WebSocket URL.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7202A"/>
                </a:solidFill>
              </a:rPr>
              <a:t>The long-lived API key is not used as the browser/session token.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91840" y="3794760"/>
            <a:ext cx="0" cy="914400"/>
          </a:xfrm>
          <a:prstGeom prst="line">
            <a:avLst/>
          </a:prstGeom>
          <a:noFill/>
          <a:ln w="25400">
            <a:solidFill>
              <a:srgbClr val="19A7CE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2286000" y="48006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76F51"/>
                </a:solidFill>
              </a:rPr>
              <a:t>Security boundary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9A7CE"/>
          </a:solidFill>
          <a:ln w="12700">
            <a:solidFill>
              <a:srgbClr val="19A7C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9A7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 |  CLIENT EVENTS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69494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2: open the WebSocket and send a prompt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94360" y="647395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2606D"/>
                </a:solidFill>
              </a:rPr>
              <a:t>realtime.mts  |  AI SDK Gateway + WebSocket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6537960" cy="3520440"/>
          </a:xfrm>
          <a:prstGeom prst="roundRect">
            <a:avLst>
              <a:gd name="adj" fmla="val 1039"/>
            </a:avLst>
          </a:prstGeom>
          <a:solidFill>
            <a:srgbClr val="14202B"/>
          </a:solidFill>
          <a:ln w="12700">
            <a:solidFill>
              <a:srgbClr val="1420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490472"/>
            <a:ext cx="6172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8F3F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const ws = new WebSocket(config.url, config.protocols);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8F3F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await send({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8F3F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type: 'conversation-item-create',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8F3F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item: { type: 'text-message', role: 'user',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8F3F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text: 'Say hello in one sentence.' },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8F3F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8F3F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await send({ type: 'response-create' });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909560" y="1554480"/>
            <a:ext cx="1143000" cy="731520"/>
          </a:xfrm>
          <a:prstGeom prst="roundRect">
            <a:avLst>
              <a:gd name="adj" fmla="val 5000"/>
            </a:avLst>
          </a:prstGeom>
          <a:solidFill>
            <a:srgbClr val="E9F7F4"/>
          </a:solidFill>
          <a:ln w="15240">
            <a:solidFill>
              <a:srgbClr val="2A9D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19288" y="1664208"/>
            <a:ext cx="923544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2A"/>
                </a:solidFill>
              </a:rPr>
              <a:t>open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366760" y="251460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9A7CE"/>
                </a:solidFill>
              </a:rPr>
              <a:t>1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732520" y="2331720"/>
            <a:ext cx="2148840" cy="731520"/>
          </a:xfrm>
          <a:prstGeom prst="roundRect">
            <a:avLst>
              <a:gd name="adj" fmla="val 5000"/>
            </a:avLst>
          </a:prstGeom>
          <a:solidFill>
            <a:srgbClr val="EAF6FA"/>
          </a:solidFill>
          <a:ln w="15240">
            <a:solidFill>
              <a:srgbClr val="19A7C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42248" y="2441448"/>
            <a:ext cx="1929384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2A"/>
                </a:solidFill>
              </a:rPr>
              <a:t>conversation-item-create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366760" y="352044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9A7CE"/>
                </a:solidFill>
              </a:rPr>
              <a:t>2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732520" y="3337560"/>
            <a:ext cx="2148840" cy="731520"/>
          </a:xfrm>
          <a:prstGeom prst="roundRect">
            <a:avLst>
              <a:gd name="adj" fmla="val 5000"/>
            </a:avLst>
          </a:prstGeom>
          <a:solidFill>
            <a:srgbClr val="FFF0EA"/>
          </a:solidFill>
          <a:ln w="15240">
            <a:solidFill>
              <a:srgbClr val="E76F5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42248" y="3447288"/>
            <a:ext cx="1929384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2A"/>
                </a:solidFill>
              </a:rPr>
              <a:t>response-create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818120" y="484632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2606D"/>
                </a:solidFill>
              </a:rPr>
              <a:t>Events are serialized as JSON strings over the socket.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9A7CE"/>
          </a:solidFill>
          <a:ln w="12700">
            <a:solidFill>
              <a:srgbClr val="19A7C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9A7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 |  RESPONSE HANDLING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69494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3: process streamed server events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94360" y="647395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2606D"/>
                </a:solidFill>
              </a:rPr>
              <a:t>realtime.mts  |  AI SDK Gateway + WebSocket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77240" y="1554480"/>
            <a:ext cx="2880360" cy="777240"/>
          </a:xfrm>
          <a:prstGeom prst="roundRect">
            <a:avLst>
              <a:gd name="adj" fmla="val 4706"/>
            </a:avLst>
          </a:prstGeom>
          <a:solidFill>
            <a:srgbClr val="EAF6FA"/>
          </a:solidFill>
          <a:ln w="15240">
            <a:solidFill>
              <a:srgbClr val="19A7C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64208"/>
            <a:ext cx="2660904" cy="5577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2A"/>
                </a:solidFill>
              </a:rPr>
              <a:t>audio-transcript-delta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977640" y="176479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202A"/>
                </a:solidFill>
              </a:rPr>
              <a:t>Print text immediately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77240" y="2697480"/>
            <a:ext cx="2880360" cy="777240"/>
          </a:xfrm>
          <a:prstGeom prst="roundRect">
            <a:avLst>
              <a:gd name="adj" fmla="val 4706"/>
            </a:avLst>
          </a:prstGeom>
          <a:solidFill>
            <a:srgbClr val="FFF0EA"/>
          </a:solidFill>
          <a:ln w="15240">
            <a:solidFill>
              <a:srgbClr val="E76F5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2807208"/>
            <a:ext cx="2660904" cy="5577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2A"/>
                </a:solidFill>
              </a:rPr>
              <a:t>audio-delta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977640" y="290779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202A"/>
                </a:solidFill>
              </a:rPr>
              <a:t>Decode base64 and buffer PCM16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77240" y="3840480"/>
            <a:ext cx="2880360" cy="777240"/>
          </a:xfrm>
          <a:prstGeom prst="roundRect">
            <a:avLst>
              <a:gd name="adj" fmla="val 4706"/>
            </a:avLst>
          </a:prstGeom>
          <a:solidFill>
            <a:srgbClr val="E9F7F4"/>
          </a:solidFill>
          <a:ln w="15240">
            <a:solidFill>
              <a:srgbClr val="2A9D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3950208"/>
            <a:ext cx="2660904" cy="5577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2A"/>
                </a:solidFill>
              </a:rPr>
              <a:t>response-done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977640" y="405079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202A"/>
                </a:solidFill>
              </a:rPr>
              <a:t>Build WAV, save, close socket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955280" y="2514600"/>
            <a:ext cx="1965960" cy="777240"/>
          </a:xfrm>
          <a:prstGeom prst="roundRect">
            <a:avLst>
              <a:gd name="adj" fmla="val 4706"/>
            </a:avLst>
          </a:prstGeom>
          <a:solidFill>
            <a:srgbClr val="FFF0EA"/>
          </a:solidFill>
          <a:ln w="15240">
            <a:solidFill>
              <a:srgbClr val="E76F5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65008" y="2624328"/>
            <a:ext cx="1746504" cy="5577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2A"/>
                </a:solidFill>
              </a:rPr>
              <a:t>error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452360" y="3703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7202A"/>
                </a:solidFill>
              </a:rPr>
              <a:t>Log message and close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534924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6C94"/>
                </a:solidFill>
              </a:rPr>
              <a:t>The event loop turns a realtime stream into visible text and a complete audio file.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9A7CE"/>
          </a:solidFill>
          <a:ln w="12700">
            <a:solidFill>
              <a:srgbClr val="19A7C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9A7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 |  FILE OUTPUT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69494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4: wrap raw PCM audio as WAV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94360" y="647395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2606D"/>
                </a:solidFill>
              </a:rPr>
              <a:t>realtime.mts  |  AI SDK Gateway + WebSocket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5943600" cy="2560320"/>
          </a:xfrm>
          <a:prstGeom prst="roundRect">
            <a:avLst>
              <a:gd name="adj" fmla="val 1429"/>
            </a:avLst>
          </a:prstGeom>
          <a:solidFill>
            <a:srgbClr val="14202B"/>
          </a:solidFill>
          <a:ln w="12700">
            <a:solidFill>
              <a:srgbClr val="1420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536192"/>
            <a:ext cx="55778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8F3F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function toWav(pcm: Buffer, sampleRate: number): Buffer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8F3F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const header = Buffer.alloc(44);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8F3F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header.write('RIFF', 0);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8F3F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...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8F3F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header.writeUInt32LE(pcm.length, 40);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8F3F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return Buffer.concat([header, pcm]);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8F3F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132320" y="1508760"/>
            <a:ext cx="3931920" cy="2560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7202A"/>
                </a:solidFill>
              </a:rPr>
              <a:t>Audio format: PCM16, mono.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7202A"/>
                </a:solidFill>
              </a:rPr>
              <a:t>Sample rate: 24,000 Hz.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7202A"/>
                </a:solidFill>
              </a:rPr>
              <a:t>The 44-byte header describes the audio data.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7202A"/>
                </a:solidFill>
              </a:rPr>
              <a:t>The result is written to reply.wav.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920240" y="498348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A9D8F"/>
                </a:solidFill>
              </a:rPr>
              <a:t>WAV = header metadata + raw PCM samples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9A7CE"/>
          </a:solidFill>
          <a:ln w="12700">
            <a:solidFill>
              <a:srgbClr val="19A7C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9A7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 |  TROUBLESHOOTING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69494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Current runtime result and limitation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94360" y="647395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2606D"/>
                </a:solidFill>
              </a:rPr>
              <a:t>realtime.mts  |  AI SDK Gateway + WebSocket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22960" y="1600200"/>
            <a:ext cx="2011680" cy="868680"/>
          </a:xfrm>
          <a:prstGeom prst="roundRect">
            <a:avLst>
              <a:gd name="adj" fmla="val 4211"/>
            </a:avLst>
          </a:prstGeom>
          <a:solidFill>
            <a:srgbClr val="E9F7F4"/>
          </a:solidFill>
          <a:ln w="15240">
            <a:solidFill>
              <a:srgbClr val="2A9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1709928"/>
            <a:ext cx="1792224" cy="6492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2A"/>
                </a:solidFill>
              </a:rPr>
              <a:t>Code starts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971800" y="184708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9A7CE"/>
                </a:solidFill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474720" y="1600200"/>
            <a:ext cx="2011680" cy="868680"/>
          </a:xfrm>
          <a:prstGeom prst="roundRect">
            <a:avLst>
              <a:gd name="adj" fmla="val 4211"/>
            </a:avLst>
          </a:prstGeom>
          <a:solidFill>
            <a:srgbClr val="EAF6FA"/>
          </a:solidFill>
          <a:ln w="15240">
            <a:solidFill>
              <a:srgbClr val="19A7C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84448" y="1709928"/>
            <a:ext cx="1792224" cy="6492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2A"/>
                </a:solidFill>
              </a:rPr>
              <a:t>Token request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623560" y="184708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9A7CE"/>
                </a:solidFill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126480" y="1600200"/>
            <a:ext cx="2011680" cy="868680"/>
          </a:xfrm>
          <a:prstGeom prst="roundRect">
            <a:avLst>
              <a:gd name="adj" fmla="val 4211"/>
            </a:avLst>
          </a:prstGeom>
          <a:solidFill>
            <a:srgbClr val="FFF0EA"/>
          </a:solidFill>
          <a:ln w="15240">
            <a:solidFill>
              <a:srgbClr val="E76F5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36208" y="1709928"/>
            <a:ext cx="1792224" cy="6492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2A"/>
                </a:solidFill>
              </a:rPr>
              <a:t>403 Gateway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549640" y="18562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76F51"/>
                </a:solidFill>
              </a:rPr>
              <a:t>Credit card required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14400" y="3337560"/>
            <a:ext cx="9875520" cy="1920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7202A"/>
                </a:solidFill>
              </a:rPr>
              <a:t>The TypeScript setup is valid and the .env loader runs.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7202A"/>
                </a:solidFill>
              </a:rPr>
              <a:t>The request reaches Vercel AI Gateway successfully.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7202A"/>
                </a:solidFill>
              </a:rPr>
              <a:t>Gateway blocks token creation until the Vercel team has a valid card on file.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7202A"/>
                </a:solidFill>
              </a:rPr>
              <a:t>This is an account/billing restriction, not a WebSocket or WAV bug.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9A7CE"/>
          </a:solidFill>
          <a:ln w="12700">
            <a:solidFill>
              <a:srgbClr val="19A7C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9A7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 |  LOCAL USAGE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69494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to run it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94360" y="647395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2606D"/>
                </a:solidFill>
              </a:rPr>
              <a:t>realtime.mts  |  AI SDK Gateway + WebSocket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77240" y="1325880"/>
            <a:ext cx="4800600" cy="3063240"/>
          </a:xfrm>
          <a:prstGeom prst="roundRect">
            <a:avLst>
              <a:gd name="adj" fmla="val 1194"/>
            </a:avLst>
          </a:prstGeom>
          <a:solidFill>
            <a:srgbClr val="14202B"/>
          </a:solidFill>
          <a:ln w="12700">
            <a:solidFill>
              <a:srgbClr val="1420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490472"/>
            <a:ext cx="4434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8F3F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.env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8F3F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AI_GATEWAY_API_KEY=your-key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8F3F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install dependencies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8F3F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npm install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8F3F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run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8F3F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npx tsx realtime.mts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17920" y="1463040"/>
            <a:ext cx="4754880" cy="3108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7202A"/>
                </a:solidFill>
              </a:rPr>
              <a:t>Keep the real key in .env, never in .env.example or source code.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7202A"/>
                </a:solidFill>
              </a:rPr>
              <a:t>The .env file is excluded by .gitignore.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7202A"/>
                </a:solidFill>
              </a:rPr>
              <a:t>Use a Vercel environment variable for deployed applications.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7202A"/>
                </a:solidFill>
              </a:rPr>
              <a:t>After a successful response, listen to reply.wav.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516636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A9D8F"/>
                </a:solidFill>
              </a:rPr>
              <a:t>Expected success output: streamed transcript + “Saved reply.wav”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9A7CE"/>
          </a:solidFill>
          <a:ln w="12700">
            <a:solidFill>
              <a:srgbClr val="19A7C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9A7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 |  SUMMARY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69494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94360" y="647395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2606D"/>
                </a:solidFill>
              </a:rPr>
              <a:t>realtime.mts  |  AI SDK Gateway + WebSocket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14400" y="1508760"/>
            <a:ext cx="10058400" cy="3474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254000" indent="-254000">
              <a:buSzPct val="100000"/>
              <a:buChar char="•"/>
            </a:pPr>
            <a:r>
              <a:rPr lang="en-US" sz="2000" dirty="0">
                <a:solidFill>
                  <a:srgbClr val="17202A"/>
                </a:solidFill>
              </a:rPr>
              <a:t>realtime.mts is a server-side realtime audio demo.</a:t>
            </a:r>
            <a:endParaRPr lang="en-US" sz="2000" dirty="0"/>
          </a:p>
          <a:p>
            <a:pPr marL="254000" indent="-254000">
              <a:buSzPct val="100000"/>
              <a:buChar char="•"/>
            </a:pPr>
            <a:r>
              <a:rPr lang="en-US" sz="2000" dirty="0">
                <a:solidFill>
                  <a:srgbClr val="17202A"/>
                </a:solidFill>
              </a:rPr>
              <a:t>The Gateway mints a temporary token, then the WebSocket carries JSON events.</a:t>
            </a:r>
            <a:endParaRPr lang="en-US" sz="2000" dirty="0"/>
          </a:p>
          <a:p>
            <a:pPr marL="254000" indent="-254000">
              <a:buSzPct val="100000"/>
              <a:buChar char="•"/>
            </a:pPr>
            <a:r>
              <a:rPr lang="en-US" sz="2000" dirty="0">
                <a:solidFill>
                  <a:srgbClr val="17202A"/>
                </a:solidFill>
              </a:rPr>
              <a:t>Transcript deltas are printed while audio deltas are collected.</a:t>
            </a:r>
            <a:endParaRPr lang="en-US" sz="2000" dirty="0"/>
          </a:p>
          <a:p>
            <a:pPr marL="254000" indent="-254000">
              <a:buSzPct val="100000"/>
              <a:buChar char="•"/>
            </a:pPr>
            <a:r>
              <a:rPr lang="en-US" sz="2000" dirty="0">
                <a:solidFill>
                  <a:srgbClr val="17202A"/>
                </a:solidFill>
              </a:rPr>
              <a:t>A minimal WAV header makes the raw PCM audio playable.</a:t>
            </a:r>
            <a:endParaRPr lang="en-US" sz="2000" dirty="0"/>
          </a:p>
          <a:p>
            <a:pPr marL="254000" indent="-254000">
              <a:buSzPct val="100000"/>
              <a:buChar char="•"/>
            </a:pPr>
            <a:r>
              <a:rPr lang="en-US" sz="2000" dirty="0">
                <a:solidFill>
                  <a:srgbClr val="17202A"/>
                </a:solidFill>
              </a:rPr>
              <a:t>The current blocker is Vercel Gateway account verification for billing.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525780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46C94"/>
                </a:solidFill>
              </a:rPr>
              <a:t>One small file demonstrates authentication, streaming, event handling, and audio file encoding.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Vercel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Realtime Audio with AI SDK Gateway</dc:title>
  <dc:subject>How realtime.mts works</dc:subject>
  <dc:creator>OpenAI Realtime example</dc:creator>
  <cp:lastModifiedBy>OpenAI Realtime example</cp:lastModifiedBy>
  <cp:revision>1</cp:revision>
  <dcterms:created xsi:type="dcterms:W3CDTF">2026-09-21T11:23:15Z</dcterms:created>
  <dcterms:modified xsi:type="dcterms:W3CDTF">2026-09-21T11:23:15Z</dcterms:modified>
</cp:coreProperties>
</file>